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8E06060-8F46-4D1C-9EC6-9D554A4F2B19}">
  <a:tblStyle styleId="{C8E06060-8F46-4D1C-9EC6-9D554A4F2B1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schemas.openxmlformats.org/officeDocument/2006/relationships/slide" Target="slides/slide19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f1ffea9963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f1ffea9963_1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1ffea9963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3f1ffea9963_1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f1ffea9963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f1ffea9963_1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f0e66ccabd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3f0e66ccabd_0_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f0e66ccabd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3f0e66ccabd_0_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slow"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9.jpg"/><Relationship Id="rId5" Type="http://schemas.openxmlformats.org/officeDocument/2006/relationships/image" Target="../media/image1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image" Target="../media/image7.jpg"/><Relationship Id="rId5" Type="http://schemas.openxmlformats.org/officeDocument/2006/relationships/image" Target="../media/image10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Relationship Id="rId4" Type="http://schemas.openxmlformats.org/officeDocument/2006/relationships/image" Target="../media/image6.jpg"/><Relationship Id="rId5" Type="http://schemas.openxmlformats.org/officeDocument/2006/relationships/image" Target="../media/image1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29" y="495097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" y="2707792"/>
            <a:ext cx="12191999" cy="1138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“RENTIX”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INGENIERÍA DE SOFTWARE | RQY1102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EscuelaIT Duoc UC - Escuela de Informática y Telecomunicaciones Duoc UC - Duoc  UC | LinkedIn" id="86" name="Google Shape;8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7963" y="4463247"/>
            <a:ext cx="4536009" cy="11447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2" name="Google Shape;92;p14"/>
          <p:cNvGrpSpPr/>
          <p:nvPr/>
        </p:nvGrpSpPr>
        <p:grpSpPr>
          <a:xfrm>
            <a:off x="4121026" y="1710819"/>
            <a:ext cx="7633494" cy="4350553"/>
            <a:chOff x="0" y="0"/>
            <a:chExt cx="7633494" cy="4350553"/>
          </a:xfrm>
        </p:grpSpPr>
        <p:sp>
          <p:nvSpPr>
            <p:cNvPr id="93" name="Google Shape;93;p14"/>
            <p:cNvSpPr/>
            <p:nvPr/>
          </p:nvSpPr>
          <p:spPr>
            <a:xfrm>
              <a:off x="0" y="0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2D9"/>
                </a:gs>
                <a:gs pos="50000">
                  <a:srgbClr val="5197DA"/>
                </a:gs>
                <a:gs pos="100000">
                  <a:srgbClr val="4185C7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4"/>
            <p:cNvSpPr txBox="1"/>
            <p:nvPr/>
          </p:nvSpPr>
          <p:spPr>
            <a:xfrm>
              <a:off x="1662653" y="0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b="0" i="0" lang="es-CL" sz="2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Juan Arriagada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CL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Cargo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CL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Funciones desempeñadas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14"/>
            <p:cNvSpPr/>
            <p:nvPr/>
          </p:nvSpPr>
          <p:spPr>
            <a:xfrm>
              <a:off x="135954" y="135954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1D2EA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4"/>
            <p:cNvSpPr/>
            <p:nvPr/>
          </p:nvSpPr>
          <p:spPr>
            <a:xfrm>
              <a:off x="0" y="1495502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2D9"/>
                </a:gs>
                <a:gs pos="50000">
                  <a:srgbClr val="5197DA"/>
                </a:gs>
                <a:gs pos="100000">
                  <a:srgbClr val="4185C7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4"/>
            <p:cNvSpPr txBox="1"/>
            <p:nvPr/>
          </p:nvSpPr>
          <p:spPr>
            <a:xfrm>
              <a:off x="1662653" y="1495502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b="0" i="0" lang="es-CL" sz="2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Carlos Ortega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CL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Cargo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CL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Funciones desempeñadas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14"/>
            <p:cNvSpPr/>
            <p:nvPr/>
          </p:nvSpPr>
          <p:spPr>
            <a:xfrm>
              <a:off x="135954" y="1631457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1D2EA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4"/>
            <p:cNvSpPr/>
            <p:nvPr/>
          </p:nvSpPr>
          <p:spPr>
            <a:xfrm>
              <a:off x="0" y="2991005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2D9"/>
                </a:gs>
                <a:gs pos="50000">
                  <a:srgbClr val="5197DA"/>
                </a:gs>
                <a:gs pos="100000">
                  <a:srgbClr val="4185C7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4"/>
            <p:cNvSpPr txBox="1"/>
            <p:nvPr/>
          </p:nvSpPr>
          <p:spPr>
            <a:xfrm>
              <a:off x="1662653" y="2991005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b="0" i="0" lang="es-CL" sz="2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Patricio Villa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CL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Cargo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CL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Funciones desempeñadas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14"/>
            <p:cNvSpPr/>
            <p:nvPr/>
          </p:nvSpPr>
          <p:spPr>
            <a:xfrm>
              <a:off x="135954" y="3126960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1D2EA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2" name="Google Shape;102;p14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“RENTIX”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INTEGRANTES, ROLES Y TIPO DE ORGANIZACIÓN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" name="Google Shape;104;p1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  <p:transition spd="slow"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09" name="Google Shape;10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“RENTIX”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Y PROPUESTA DE SOLUCIÓN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2" name="Google Shape;112;p15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13" name="Google Shape;113;p15"/>
          <p:cNvSpPr/>
          <p:nvPr/>
        </p:nvSpPr>
        <p:spPr>
          <a:xfrm>
            <a:off x="714909" y="2169769"/>
            <a:ext cx="4427360" cy="4420812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/ Necesidad del Cliente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edificio cuenta con 160 departamentos y actualmente su administración se realiza mediante planillas aisladas, lo que genera errores en los gastos comunes, pérdida de información y lentitud en los procesos. Además, el equipo administrativo tiene dificultades para controlar la morosidad y gestionar los pagos.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6912079" y="2177325"/>
            <a:ext cx="4348705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 de Software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desarrolló una plataforma web centralizada que automatiza la administración del edificio, el cálculo de gastos comunes y los pagos en línea, permitiendo consultar la información en tiempo real y facilitando el control de la gestión administrativa. </a:t>
            </a: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20" name="Google Shape;12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“RENTIX”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0" y="1384304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CICLO DE VIDA DEL SOFTWARE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3" name="Google Shape;123;p16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24" name="Google Shape;124;p16"/>
          <p:cNvSpPr txBox="1"/>
          <p:nvPr/>
        </p:nvSpPr>
        <p:spPr>
          <a:xfrm>
            <a:off x="1" y="4082446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Fases aplicadas al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/>
          <p:nvPr/>
        </p:nvSpPr>
        <p:spPr>
          <a:xfrm>
            <a:off x="614525" y="2040575"/>
            <a:ext cx="10962900" cy="2041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Análisis:</a:t>
            </a: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Estudiamos el caso a fondo para comprender la problemática del Edificio El Mirador y ver la necesidad real del cliente.</a:t>
            </a:r>
            <a:endParaRPr sz="13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Diseño:</a:t>
            </a: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Creamos la arquitectura del sistema (Modelo 4+1) y construimos el prototipo en Figma. 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Desarrollo, Testing e </a:t>
            </a:r>
            <a:r>
              <a:rPr b="1"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Implementación: </a:t>
            </a: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estas tres fases no se realizó ningún trabajo, ya que el proyecto solo llegó hasta la etapa de diseño, específicamente hasta la fase de prototipado. En cuanto a las pruebas, estas solo se mencionan como una propuesta de las posibles validaciones que podrían realizarse en el prototipo, ya que no llegaron a ejecutarse. 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614525" y="4640300"/>
            <a:ext cx="11021400" cy="2041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aplicada:</a:t>
            </a: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Modelo Tradicional en Cascada.</a:t>
            </a:r>
            <a:endParaRPr sz="1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Justificación con el proyecto Rentix: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700">
                <a:solidFill>
                  <a:schemeClr val="dk1"/>
                </a:solidFill>
              </a:rPr>
              <a:t>Requisitos claros y definidos:</a:t>
            </a:r>
            <a:r>
              <a:rPr lang="es-CL" sz="1700">
                <a:solidFill>
                  <a:schemeClr val="dk1"/>
                </a:solidFill>
              </a:rPr>
              <a:t> La administración del edificio y el cálculo de gastos comunes siguen reglas estables, por lo que el modelo Cascada fue el más adecuado.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700">
                <a:solidFill>
                  <a:schemeClr val="dk1"/>
                </a:solidFill>
              </a:rPr>
              <a:t>Orden y validación secuencial:</a:t>
            </a:r>
            <a:r>
              <a:rPr lang="es-CL" sz="1700">
                <a:solidFill>
                  <a:schemeClr val="dk1"/>
                </a:solidFill>
              </a:rPr>
              <a:t> Permitió completar el análisis antes de desarrollar el prototipo en Figma.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700">
                <a:solidFill>
                  <a:schemeClr val="dk1"/>
                </a:solidFill>
              </a:rPr>
              <a:t>Calce con nuestra entrega:</a:t>
            </a:r>
            <a:r>
              <a:rPr lang="es-CL" sz="1700">
                <a:solidFill>
                  <a:schemeClr val="dk1"/>
                </a:solidFill>
              </a:rPr>
              <a:t> Como el proyecto llegó hasta el diseño y la arquitectura del sistema, las pruebas quedaron planificadas para una etapa futura.</a:t>
            </a:r>
            <a:endParaRPr sz="17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31" name="Google Shape;13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“RENTIX”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OBJETIVOS, ALCANCE Y LIMITACIONES DEL PROYECTO</a:t>
            </a:r>
            <a:endParaRPr/>
          </a:p>
        </p:txBody>
      </p:sp>
      <p:cxnSp>
        <p:nvCxnSpPr>
          <p:cNvPr id="134" name="Google Shape;134;p17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35" name="Google Shape;135;p17"/>
          <p:cNvSpPr txBox="1"/>
          <p:nvPr/>
        </p:nvSpPr>
        <p:spPr>
          <a:xfrm>
            <a:off x="793630" y="2078986"/>
            <a:ext cx="10412100" cy="42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lang="es-CL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del Sistema: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Automatizar: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Centralizar el cobro de gastos comunes y reducir errores administrativos.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Eficiencia: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Optimizar el tiempo del equipo de administración y facilitar la comunicación con los residentes.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Transparencia: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Generar reportes financieros claros y accesibles en tiempo real.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lang="es-CL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Alcance: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Cobertura: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Digitalización total de la gestión administrativa para 160 departamentos.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Funcionalidades: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Registro de residentes, gestión de pagos/morosidad, notificaciones automáticas, recepción de solicitudes y generación de informes financieros.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Acceso: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Plataforma web multiplataforma (computador y dispositivos móviles).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lang="es-CL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Limitaciones: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Conectividad: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El sistema requiere acceso a internet para funcionar (acceso remoto).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Infraestructura: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Dependencia de servicios de nube y pasarelas de pago externas.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Conocimiento </a:t>
            </a: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básicos</a:t>
            </a: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Requiere que los usuarios posean conocimientos tecnológicos básicos para interactuar con la plataforma.</a:t>
            </a:r>
            <a:endParaRPr/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40" name="Google Shape;14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8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“RENTIX”</a:t>
            </a:r>
            <a:endParaRPr/>
          </a:p>
        </p:txBody>
      </p:sp>
      <p:sp>
        <p:nvSpPr>
          <p:cNvPr id="142" name="Google Shape;142;p18"/>
          <p:cNvSpPr txBox="1"/>
          <p:nvPr/>
        </p:nvSpPr>
        <p:spPr>
          <a:xfrm>
            <a:off x="0" y="126260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ESTRATEGIAS DE GESTIÓN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3" name="Google Shape;143;p18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44" name="Google Shape;144;p18"/>
          <p:cNvSpPr txBox="1"/>
          <p:nvPr/>
        </p:nvSpPr>
        <p:spPr>
          <a:xfrm>
            <a:off x="345125" y="2043750"/>
            <a:ext cx="10345500" cy="39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600"/>
              <a:t>Estrategia de gestión del proyecto: </a:t>
            </a:r>
            <a:r>
              <a:rPr lang="es-CL" sz="1500"/>
              <a:t>Nuestra estrategia de gestión se planificó de forma ordenada y por etapas, ya que las reglas operacionales y el proceso de cobro de gastos comunes estaban claramente definidos desde el inicio. Esto permitió desarrollar el proyecto de forma estructurada.</a:t>
            </a:r>
            <a:r>
              <a:rPr lang="es-CL" sz="1500"/>
              <a:t> 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600"/>
              <a:t>Contexto:</a:t>
            </a:r>
            <a:r>
              <a:rPr lang="es-CL" sz="1500"/>
              <a:t> </a:t>
            </a:r>
            <a:r>
              <a:rPr lang="es-CL" sz="1500"/>
              <a:t>El caso de estudio corresponde a un edificio de 160 departamentos administrado por un comité de cinco personas. Actualmente, la gestión se realiza de forma manual, generando mayor carga de trabajo, errores en los gastos comunes y dificultades para controlar los pagos. 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600"/>
              <a:t>Alcance: </a:t>
            </a:r>
            <a:r>
              <a:rPr lang="es-CL" sz="1500"/>
              <a:t>El alcance del proyecto contempla la planificación de las fases de análisis, diseño, desarrollo, pruebas e implementación. Sin embargo, el trabajo realizado llegó hasta la etapa de diseño, donde se desarrolló el prototipo interactivo y la arquitectura del sistema, alcanzando un 40% de avance del proyecto. 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600"/>
              <a:t>Tiempo: </a:t>
            </a:r>
            <a:r>
              <a:rPr lang="es-CL" sz="1500"/>
              <a:t>El plazo total para desarrollar las fases contempladas del proyecto, desde el análisis hasta el diseño final del proyecto de software, fue de 32 semanas de trabajo. 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600"/>
              <a:t>Costos:</a:t>
            </a:r>
            <a:r>
              <a:rPr lang="es-CL" sz="1500"/>
              <a:t> El presupuesto estimado para el proyecto se calculó en un costo total de 54 millones de pesos.</a:t>
            </a:r>
            <a:endParaRPr sz="1500"/>
          </a:p>
        </p:txBody>
      </p:sp>
    </p:spTree>
  </p:cSld>
  <p:clrMapOvr>
    <a:masterClrMapping/>
  </p:clrMapOvr>
  <p:transition spd="slow"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49" name="Google Shape;14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9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“RENTIX”</a:t>
            </a:r>
            <a:endParaRPr/>
          </a:p>
        </p:txBody>
      </p:sp>
      <p:sp>
        <p:nvSpPr>
          <p:cNvPr id="151" name="Google Shape;151;p19"/>
          <p:cNvSpPr txBox="1"/>
          <p:nvPr/>
        </p:nvSpPr>
        <p:spPr>
          <a:xfrm>
            <a:off x="1" y="1155656"/>
            <a:ext cx="12191999" cy="892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PLANIFICACIÓN DEL PROYECTO (EDT + CARTA GANTT)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* Adjuntar Carta Gantt detallada. Indicar avance y cumplimiento al término del proyecto.</a:t>
            </a:r>
            <a:endParaRPr sz="10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2" name="Google Shape;152;p19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53" name="Google Shape;15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8275" y="2210951"/>
            <a:ext cx="11358025" cy="261327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9"/>
          <p:cNvSpPr txBox="1"/>
          <p:nvPr/>
        </p:nvSpPr>
        <p:spPr>
          <a:xfrm>
            <a:off x="278300" y="5130850"/>
            <a:ext cx="11358000" cy="16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Nosotros dividimos el proyecto en 5 fases las cuales fueron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análisis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diseño, desarrollo, pruebas e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integración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 por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último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implementación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estas fases sirven para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así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poder dividir el tiempo de trabajo y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también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su vez poder dividir los recursos destinados para las distintas fases, cabe recalcar que la carta gantt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está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hecha para todo el proyecto pero solo se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llegó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hasta la fase de diseño, lo cual equivale al 40% del avance. En la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planificación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general, el proyecto contempla una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duración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estimada de 32 semanas y un costo total de $54.000.000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59" name="Google Shape;15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0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“RENTIX”</a:t>
            </a:r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0" y="1432655"/>
            <a:ext cx="12192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 SOFTWARE - MODELO 4+1 (UML)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2" name="Google Shape;162;p20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63" name="Google Shape;163;p20"/>
          <p:cNvSpPr txBox="1"/>
          <p:nvPr/>
        </p:nvSpPr>
        <p:spPr>
          <a:xfrm>
            <a:off x="268675" y="2294550"/>
            <a:ext cx="11382600" cy="37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700">
                <a:solidFill>
                  <a:schemeClr val="dk1"/>
                </a:solidFill>
              </a:rPr>
              <a:t>El patrón de diseño utilizado para desarrollar los diagramas fue Modelo Vista Controlador (MVC), que divide la aplicación en tres componentes para organizar las funciones del sistema: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s-CL" sz="1700">
                <a:solidFill>
                  <a:schemeClr val="dk1"/>
                </a:solidFill>
              </a:rPr>
              <a:t>Modelo:</a:t>
            </a:r>
            <a:r>
              <a:rPr lang="es-CL" sz="1700">
                <a:solidFill>
                  <a:schemeClr val="dk1"/>
                </a:solidFill>
              </a:rPr>
              <a:t> administra los datos y la lógica del sistema.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s-CL" sz="1700">
                <a:solidFill>
                  <a:schemeClr val="dk1"/>
                </a:solidFill>
              </a:rPr>
              <a:t>Vista:</a:t>
            </a:r>
            <a:r>
              <a:rPr lang="es-CL" sz="1700">
                <a:solidFill>
                  <a:schemeClr val="dk1"/>
                </a:solidFill>
              </a:rPr>
              <a:t> corresponde a la interfaz utilizada por administradores y residentes.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s-CL" sz="1700">
                <a:solidFill>
                  <a:schemeClr val="dk1"/>
                </a:solidFill>
              </a:rPr>
              <a:t>Controlador:</a:t>
            </a:r>
            <a:r>
              <a:rPr lang="es-CL" sz="1700">
                <a:solidFill>
                  <a:schemeClr val="dk1"/>
                </a:solidFill>
              </a:rPr>
              <a:t> procesa las acciones del usuario y coordina la comunicación entre la vista y el modelo.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700">
                <a:solidFill>
                  <a:schemeClr val="dk1"/>
                </a:solidFill>
              </a:rPr>
              <a:t>MVC permite mantener una estructura organizada, facilitando el mantenimiento, la escalabilidad y futuras mejoras del sistema.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700">
                <a:solidFill>
                  <a:schemeClr val="dk1"/>
                </a:solidFill>
              </a:rPr>
              <a:t>El modelo 4+1 se utilizó porque permite representar la arquitectura desde distintas perspectivas (escenarios, lógica, desarrollo, procesos y despliegue), facilitando la comprensión del sistema por parte de los distintos interesados.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68" name="Google Shape;16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1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“RENTIX”</a:t>
            </a:r>
            <a:endParaRPr/>
          </a:p>
        </p:txBody>
      </p:sp>
      <p:sp>
        <p:nvSpPr>
          <p:cNvPr id="170" name="Google Shape;170;p21"/>
          <p:cNvSpPr txBox="1"/>
          <p:nvPr/>
        </p:nvSpPr>
        <p:spPr>
          <a:xfrm>
            <a:off x="0" y="1126605"/>
            <a:ext cx="12192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DIAGRAMAS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1" name="Google Shape;171;p21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72" name="Google Shape;17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6400" y="1872900"/>
            <a:ext cx="5613950" cy="38782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00350" y="1804900"/>
            <a:ext cx="6113200" cy="4647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78" name="Google Shape;17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2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“RENTIX”</a:t>
            </a:r>
            <a:endParaRPr/>
          </a:p>
        </p:txBody>
      </p:sp>
      <p:sp>
        <p:nvSpPr>
          <p:cNvPr id="180" name="Google Shape;180;p22"/>
          <p:cNvSpPr txBox="1"/>
          <p:nvPr/>
        </p:nvSpPr>
        <p:spPr>
          <a:xfrm>
            <a:off x="0" y="1126605"/>
            <a:ext cx="12192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DIAGRAMAS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1" name="Google Shape;181;p22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82" name="Google Shape;18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0250" y="2029550"/>
            <a:ext cx="4807351" cy="3276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47350" y="2029550"/>
            <a:ext cx="6059474" cy="3194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88" name="Google Shape;18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3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“RENTIX”</a:t>
            </a:r>
            <a:endParaRPr/>
          </a:p>
        </p:txBody>
      </p:sp>
      <p:sp>
        <p:nvSpPr>
          <p:cNvPr id="190" name="Google Shape;190;p23"/>
          <p:cNvSpPr txBox="1"/>
          <p:nvPr/>
        </p:nvSpPr>
        <p:spPr>
          <a:xfrm>
            <a:off x="0" y="1126605"/>
            <a:ext cx="12192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DIAGRAMAS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1" name="Google Shape;191;p23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92" name="Google Shape;192;p23"/>
          <p:cNvPicPr preferRelativeResize="0"/>
          <p:nvPr/>
        </p:nvPicPr>
        <p:blipFill rotWithShape="1">
          <a:blip r:embed="rId4">
            <a:alphaModFix/>
          </a:blip>
          <a:srcRect b="-9794" l="0" r="0" t="-8201"/>
          <a:stretch/>
        </p:blipFill>
        <p:spPr>
          <a:xfrm>
            <a:off x="136200" y="2357075"/>
            <a:ext cx="5973550" cy="3575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9750" y="1897825"/>
            <a:ext cx="6082251" cy="479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98" name="Google Shape;19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4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“RENTIX”</a:t>
            </a:r>
            <a:endParaRPr/>
          </a:p>
        </p:txBody>
      </p:sp>
      <p:sp>
        <p:nvSpPr>
          <p:cNvPr id="200" name="Google Shape;200;p24"/>
          <p:cNvSpPr txBox="1"/>
          <p:nvPr/>
        </p:nvSpPr>
        <p:spPr>
          <a:xfrm>
            <a:off x="0" y="1410393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REQUISITOS FUNCIONALES Y NO FUNCIONALES</a:t>
            </a:r>
            <a:endParaRPr/>
          </a:p>
        </p:txBody>
      </p:sp>
      <p:cxnSp>
        <p:nvCxnSpPr>
          <p:cNvPr id="201" name="Google Shape;201;p2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02" name="Google Shape;202;p24"/>
          <p:cNvSpPr txBox="1"/>
          <p:nvPr/>
        </p:nvSpPr>
        <p:spPr>
          <a:xfrm>
            <a:off x="6818950" y="2461200"/>
            <a:ext cx="5094600" cy="3045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Requisitos no funcionales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b="1"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Módulo de Operatividad y Rendimiento</a:t>
            </a: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que garantiza que el sistema sea intuitivo, responda en menos de tres segundos, soporte múltiples usuarios simultáneos y mantenga una disponibilidad operativa del 99%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b="1"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Módulo de Seguridad y Confiabilidad</a:t>
            </a: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que se encarga de proteger la confidencialidad de la información personal y financiera, asegurar la trazabilidad de las operaciones críticas y garantizar la recuperación automática del sistema ante cualquier fallo.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4"/>
          <p:cNvSpPr txBox="1"/>
          <p:nvPr/>
        </p:nvSpPr>
        <p:spPr>
          <a:xfrm>
            <a:off x="278925" y="2461200"/>
            <a:ext cx="6455700" cy="4137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Requisitos funcionales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b="1"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Módulo de Gestión de Usuarios</a:t>
            </a: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que controla los accesos, la seguridad, los roles y los permisos de cada actor que interactúa con la plataforma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b="1"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Módulo de Gestión Residencial</a:t>
            </a: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encargado de administrar las unidades habitacionales y el registro de residentes con su respectiva trazabilidad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b="1"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Módulo de Gestión Financiera</a:t>
            </a: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que actúa como el motor del sistema al automatizar el cálculo de cuotas, el registro de pagos y el control de la morosidad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b="1"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Módulo de Notificaciones y Atención</a:t>
            </a: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el cual gestiona los canales de comunicación y centraliza la atención de solicitudes de mantenimiento o reclamos; y finalmente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Módulo de Reportes y Control</a:t>
            </a: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que permite visualizar indicadores clave y generar inf</a:t>
            </a:r>
            <a:r>
              <a:rPr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rmes financieros para apoyar la toma de decisiones.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08" name="Google Shape;20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5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“RENTIX”</a:t>
            </a:r>
            <a:endParaRPr/>
          </a:p>
        </p:txBody>
      </p:sp>
      <p:sp>
        <p:nvSpPr>
          <p:cNvPr id="210" name="Google Shape;210;p25"/>
          <p:cNvSpPr txBox="1"/>
          <p:nvPr/>
        </p:nvSpPr>
        <p:spPr>
          <a:xfrm>
            <a:off x="0" y="143265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ESTÁNDARES DE CALIDAD - </a:t>
            </a: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ISO 25000</a:t>
            </a: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 OTROS</a:t>
            </a:r>
            <a:endParaRPr/>
          </a:p>
        </p:txBody>
      </p:sp>
      <p:cxnSp>
        <p:nvCxnSpPr>
          <p:cNvPr id="211" name="Google Shape;211;p25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12" name="Google Shape;212;p25"/>
          <p:cNvSpPr txBox="1"/>
          <p:nvPr/>
        </p:nvSpPr>
        <p:spPr>
          <a:xfrm>
            <a:off x="581450" y="2442300"/>
            <a:ext cx="111042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ISO 9126: Calidad de Diseño (Prototipado en Figma)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Enfoque: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Usabilidad y funcionalidad.</a:t>
            </a:r>
            <a:endParaRPr/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¿Por qué?: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Validó que la interfaz fuera intuitiva y funcional desde las primeras etapas, permitiendo ajustar el flujo del usuario antes de programar.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ISO 25000: Seguridad del inicio de sesión(Prototipado en Figma)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Enfoque: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Seguridad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¿Por qué?: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Protege los datos de los usuarios haciendo un cifrado de las contraseñas y también a su vez manteniendo oculta dicha contraseña.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17" name="Google Shape;21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6"/>
          <p:cNvSpPr txBox="1"/>
          <p:nvPr/>
        </p:nvSpPr>
        <p:spPr>
          <a:xfrm>
            <a:off x="1" y="992892"/>
            <a:ext cx="121920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DEMOSTRACIÓN DEL PROTOTIPO DE ALTA FIDELIDAD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lang="es-CL" sz="2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s-CL" sz="2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4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6"/>
          <p:cNvSpPr txBox="1"/>
          <p:nvPr/>
        </p:nvSpPr>
        <p:spPr>
          <a:xfrm flipH="1">
            <a:off x="1019800" y="2238475"/>
            <a:ext cx="100257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chemeClr val="dk1"/>
                </a:solidFill>
              </a:rPr>
              <a:t>¿Que herramienta se </a:t>
            </a:r>
            <a:r>
              <a:rPr b="1" lang="es-CL" sz="1800">
                <a:solidFill>
                  <a:schemeClr val="dk1"/>
                </a:solidFill>
              </a:rPr>
              <a:t>usó</a:t>
            </a:r>
            <a:r>
              <a:rPr b="1" lang="es-CL" sz="1800">
                <a:solidFill>
                  <a:schemeClr val="dk1"/>
                </a:solidFill>
              </a:rPr>
              <a:t> para prototipar?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</a:rPr>
              <a:t>Elegimos Figma porque permite crear prototipos interactivos sin programar, facilita el trabajo colaborativo en tiempo real y ofrece acceso desde cualquier navegador. Se escogió por sobre Adobe XD y Sketch por su mayor accesibilidad, facilidad de uso y versión gratuita. </a:t>
            </a:r>
            <a:endParaRPr sz="1800"/>
          </a:p>
        </p:txBody>
      </p:sp>
      <p:sp>
        <p:nvSpPr>
          <p:cNvPr id="220" name="Google Shape;220;p26"/>
          <p:cNvSpPr txBox="1"/>
          <p:nvPr/>
        </p:nvSpPr>
        <p:spPr>
          <a:xfrm flipH="1">
            <a:off x="1019800" y="4023600"/>
            <a:ext cx="66795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/>
              <a:t>¿Que requisitos funcionales y no funcionales se usaron?</a:t>
            </a:r>
            <a:endParaRPr b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</a:rPr>
              <a:t>Durante la demostración se implementaron los requisitos funcionales RF-01, RF-02, RF-03 y RF-20, junto con los requisitos no funcionales RNF-01 y RNF-02, representando las principales funciones del sistema.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  <p:transition spd="slow">
    <p:fade thruBlk="1"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25" name="Google Shape;22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7"/>
          <p:cNvSpPr txBox="1"/>
          <p:nvPr/>
        </p:nvSpPr>
        <p:spPr>
          <a:xfrm>
            <a:off x="-168799" y="750092"/>
            <a:ext cx="121920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DEMOSTRACIÓN DE FLUJOS PRINCIPALES</a:t>
            </a:r>
            <a:endParaRPr sz="9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7" name="Google Shape;227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30950" y="1592713"/>
            <a:ext cx="2780400" cy="3672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61100" y="1662175"/>
            <a:ext cx="5004870" cy="367255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7"/>
          <p:cNvSpPr txBox="1"/>
          <p:nvPr/>
        </p:nvSpPr>
        <p:spPr>
          <a:xfrm>
            <a:off x="1267250" y="5334725"/>
            <a:ext cx="39078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/>
              <a:t>1.</a:t>
            </a:r>
            <a:r>
              <a:rPr lang="es-CL"/>
              <a:t>El flujo comienza cuando el usuario ingresa sus credenciales. El sistema valida la información y, si es correcta, permite el acceso a la plataforma para continuar con las demás funcionalidades. </a:t>
            </a:r>
            <a:endParaRPr/>
          </a:p>
        </p:txBody>
      </p:sp>
      <p:sp>
        <p:nvSpPr>
          <p:cNvPr id="230" name="Google Shape;230;p27"/>
          <p:cNvSpPr txBox="1"/>
          <p:nvPr/>
        </p:nvSpPr>
        <p:spPr>
          <a:xfrm>
            <a:off x="6126250" y="5442425"/>
            <a:ext cx="45309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/>
              <a:t>2.</a:t>
            </a:r>
            <a:r>
              <a:rPr lang="es-CL"/>
              <a:t>Una vez autenticado, el sistema dirige al usuario al panel principal, donde se presenta un resumen general y los accesos a los distintos módulos para iniciar la gestión de la plataforma. 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35" name="Google Shape;23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8"/>
          <p:cNvSpPr txBox="1"/>
          <p:nvPr/>
        </p:nvSpPr>
        <p:spPr>
          <a:xfrm>
            <a:off x="1" y="882742"/>
            <a:ext cx="121920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DEMOSTRACIÓN DE FLUJOS PRINCIPALES</a:t>
            </a:r>
            <a:endParaRPr sz="9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7" name="Google Shape;237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5000" y="1773675"/>
            <a:ext cx="4167575" cy="3532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66450" y="1773675"/>
            <a:ext cx="6594877" cy="353265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8"/>
          <p:cNvSpPr txBox="1"/>
          <p:nvPr/>
        </p:nvSpPr>
        <p:spPr>
          <a:xfrm>
            <a:off x="905600" y="5380500"/>
            <a:ext cx="37497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/>
              <a:t>3</a:t>
            </a:r>
            <a:r>
              <a:rPr lang="es-CL"/>
              <a:t>.</a:t>
            </a:r>
            <a:r>
              <a:rPr lang="es-CL"/>
              <a:t>El administrador completa los datos del nuevo usuario, asigna su rol y medio de notificación. Una vez validada la información, el sistema registra el usuario y lo incorpora a la plataforma. </a:t>
            </a:r>
            <a:endParaRPr/>
          </a:p>
        </p:txBody>
      </p:sp>
      <p:sp>
        <p:nvSpPr>
          <p:cNvPr id="240" name="Google Shape;240;p28"/>
          <p:cNvSpPr txBox="1"/>
          <p:nvPr/>
        </p:nvSpPr>
        <p:spPr>
          <a:xfrm>
            <a:off x="5800725" y="5380500"/>
            <a:ext cx="4533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/>
              <a:t>4.</a:t>
            </a:r>
            <a:r>
              <a:rPr lang="es-CL"/>
              <a:t>Después del registro, el usuario aparece en el listado general, donde el administrador puede consultar su información, buscarlo, editar sus datos o administrar su estado. 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45" name="Google Shape;24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9"/>
          <p:cNvSpPr txBox="1"/>
          <p:nvPr/>
        </p:nvSpPr>
        <p:spPr>
          <a:xfrm>
            <a:off x="0" y="1071101"/>
            <a:ext cx="121920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HEURISTICA DE NIELSEN Y CASOS DE PRUEBA </a:t>
            </a:r>
            <a:endParaRPr sz="4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(ISO 25000 / USABILIDAD DEL 53,3%)</a:t>
            </a:r>
            <a:endParaRPr sz="1200"/>
          </a:p>
        </p:txBody>
      </p:sp>
      <p:graphicFrame>
        <p:nvGraphicFramePr>
          <p:cNvPr id="247" name="Google Shape;247;p29"/>
          <p:cNvGraphicFramePr/>
          <p:nvPr/>
        </p:nvGraphicFramePr>
        <p:xfrm>
          <a:off x="952500" y="240508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{C8E06060-8F46-4D1C-9EC6-9D554A4F2B19}</a:tableStyleId>
              </a:tblPr>
              <a:tblGrid>
                <a:gridCol w="2734450"/>
                <a:gridCol w="2109425"/>
                <a:gridCol w="54431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300"/>
                        <a:t>HEURÍSTICA</a:t>
                      </a:r>
                      <a:endParaRPr b="1"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300"/>
                        <a:t>ESTADO</a:t>
                      </a:r>
                      <a:endParaRPr b="1"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300"/>
                        <a:t>DESCRIPCIÓN</a:t>
                      </a:r>
                      <a:endParaRPr b="1" sz="13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300"/>
                        <a:t>H1 - Visibilidad del estado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300">
                          <a:solidFill>
                            <a:schemeClr val="dk1"/>
                          </a:solidFill>
                        </a:rPr>
                        <a:t>🟡 Cumple parcialmente 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300"/>
                        <a:t>No se muestra un indicador de carga al enviar formularios.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300">
                          <a:solidFill>
                            <a:schemeClr val="dk1"/>
                          </a:solidFill>
                        </a:rPr>
                        <a:t>H2 - Sistema y mundo real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CL" sz="1300"/>
                        <a:t> </a:t>
                      </a:r>
                      <a:r>
                        <a:rPr lang="es-CL" sz="1300"/>
                        <a:t>🟢 Cumple</a:t>
                      </a:r>
                      <a:endParaRPr sz="1300"/>
                    </a:p>
                  </a:txBody>
                  <a:tcPr marT="9525" marB="9525" marR="9525" marL="95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300"/>
                        <a:t>Se utilizan términos técnicos que pueden confundir al usuario.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300"/>
                        <a:t>H3 - Control y libertad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CL" sz="1300"/>
                        <a:t> </a:t>
                      </a:r>
                      <a:r>
                        <a:rPr lang="es-CL" sz="1300"/>
                        <a:t>🔴 No cumple</a:t>
                      </a:r>
                      <a:endParaRPr sz="1300"/>
                    </a:p>
                  </a:txBody>
                  <a:tcPr marT="9525" marB="9525" marR="9525" marL="95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300"/>
                        <a:t>No existe opción para cancelar una acción en proceso.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300"/>
                        <a:t>H4 - Consistencia y estándares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CL" sz="1300"/>
                        <a:t> </a:t>
                      </a:r>
                      <a:r>
                        <a:rPr lang="es-CL" sz="1300"/>
                        <a:t>🟡 Cumple parcialmente</a:t>
                      </a:r>
                      <a:endParaRPr sz="1300"/>
                    </a:p>
                  </a:txBody>
                  <a:tcPr marT="9525" marB="9525" marR="9525" marL="95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300"/>
                        <a:t>Botones con la misma función tienen nombres distintos.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300"/>
                        <a:t>H5 - Prevención de errores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CL" sz="1300"/>
                        <a:t> </a:t>
                      </a:r>
                      <a:r>
                        <a:rPr lang="es-CL" sz="1300"/>
                        <a:t>🔴 No cumple</a:t>
                      </a:r>
                      <a:endParaRPr sz="1300"/>
                    </a:p>
                  </a:txBody>
                  <a:tcPr marT="9525" marB="9525" marR="9525" marL="95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300"/>
                        <a:t>Se permite enviar formularios incompletos.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298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300"/>
                        <a:t>H6 - Reconocimiento &gt; recuerdo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CL" sz="1300"/>
                        <a:t> </a:t>
                      </a:r>
                      <a:r>
                        <a:rPr lang="es-CL" sz="1300"/>
                        <a:t>🟢 Cumple</a:t>
                      </a:r>
                      <a:endParaRPr sz="1300"/>
                    </a:p>
                  </a:txBody>
                  <a:tcPr marT="9525" marB="9525" marR="9525" marL="95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300"/>
                        <a:t>El usuario debe recordar información de pantallas anteriores.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300"/>
                        <a:t>H7 - Flexibilidad y eficiencia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CL" sz="1300"/>
                        <a:t> </a:t>
                      </a:r>
                      <a:r>
                        <a:rPr lang="es-CL" sz="1300"/>
                        <a:t>🟡 Cumple parcialmente</a:t>
                      </a:r>
                      <a:endParaRPr sz="1300"/>
                    </a:p>
                  </a:txBody>
                  <a:tcPr marT="9525" marB="9525" marR="9525" marL="95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300"/>
                        <a:t>No existen atajos para usuarios frecuentes.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300"/>
                        <a:t>H8 - Diseño minimalista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CL" sz="1300"/>
                        <a:t> </a:t>
                      </a:r>
                      <a:r>
                        <a:rPr lang="es-CL" sz="1300"/>
                        <a:t>🔴 No cumple</a:t>
                      </a:r>
                      <a:endParaRPr sz="1300"/>
                    </a:p>
                  </a:txBody>
                  <a:tcPr marT="9525" marB="9525" marR="9525" marL="95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300"/>
                        <a:t>La pantalla contiene información poco relevante para la tarea.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300"/>
                        <a:t>H9 - Recuperación de errores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CL" sz="1300"/>
                        <a:t> </a:t>
                      </a:r>
                      <a:r>
                        <a:rPr lang="es-CL" sz="1300"/>
                        <a:t>🔴 No cumple</a:t>
                      </a:r>
                      <a:endParaRPr sz="1300"/>
                    </a:p>
                  </a:txBody>
                  <a:tcPr marT="9525" marB="9525" marR="9525" marL="95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300"/>
                        <a:t>Los mensajes de error no indican cómo solucionar el problema.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300"/>
                        <a:t>H10 - Ayuda y documentación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CL" sz="1300"/>
                        <a:t> </a:t>
                      </a:r>
                      <a:r>
                        <a:rPr lang="es-CL" sz="1300"/>
                        <a:t>🟡 Cumple parcialmente</a:t>
                      </a:r>
                      <a:endParaRPr sz="1300"/>
                    </a:p>
                  </a:txBody>
                  <a:tcPr marT="9525" marB="9525" marR="9525" marL="95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300"/>
                        <a:t>No existe ayuda contextual para funciones complejas.</a:t>
                      </a:r>
                      <a:endParaRPr sz="13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  <p:transition spd="slow">
    <p:fade thruBlk="1"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52" name="Google Shape;25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30"/>
          <p:cNvSpPr txBox="1"/>
          <p:nvPr/>
        </p:nvSpPr>
        <p:spPr>
          <a:xfrm>
            <a:off x="1" y="1360773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ACCIONES DE MEJORA Y CONTROL DE VERSIONES</a:t>
            </a:r>
            <a:endParaRPr/>
          </a:p>
        </p:txBody>
      </p:sp>
      <p:sp>
        <p:nvSpPr>
          <p:cNvPr id="254" name="Google Shape;254;p30"/>
          <p:cNvSpPr txBox="1"/>
          <p:nvPr/>
        </p:nvSpPr>
        <p:spPr>
          <a:xfrm>
            <a:off x="1189650" y="2371900"/>
            <a:ext cx="9812700" cy="41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</a:rPr>
              <a:t>La mejora implementada en el prototipo fue una única modificación relacionada con el apartado de “Usuarios totales”. Inicialmente, este indicador </a:t>
            </a:r>
            <a:r>
              <a:rPr lang="es-CL" sz="1800">
                <a:solidFill>
                  <a:schemeClr val="dk1"/>
                </a:solidFill>
              </a:rPr>
              <a:t>contabiliza</a:t>
            </a:r>
            <a:r>
              <a:rPr lang="es-CL" sz="1800">
                <a:solidFill>
                  <a:schemeClr val="dk1"/>
                </a:solidFill>
              </a:rPr>
              <a:t> tanto a los usuarios activos como a los desactivados, es decir, aquellos que ya no pertenecían al sistema. Como acción de mejora, se modificó este apartado para que </a:t>
            </a:r>
            <a:r>
              <a:rPr lang="es-CL" sz="1800">
                <a:solidFill>
                  <a:schemeClr val="dk1"/>
                </a:solidFill>
              </a:rPr>
              <a:t>sólo</a:t>
            </a:r>
            <a:r>
              <a:rPr lang="es-CL" sz="1800">
                <a:solidFill>
                  <a:schemeClr val="dk1"/>
                </a:solidFill>
              </a:rPr>
              <a:t> considere a los usuarios activos. Además, se incorporó un indicador que muestra la cantidad de usuarios que se encuentran en línea en tiempo real.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</a:rPr>
              <a:t>En cuanto al control de versiones, el proyecto contó con dos versiones. La primera correspondió a la versión inicial del prototipo, mientras que la segunda incluyó la mejora mencionada anteriormente. Debido a que no se realizaron otras modificaciones relevantes, no fue necesario generar versiones adicionales.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59" name="Google Shape;25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31"/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PREGUNTAS DE LA COMISIÓN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